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8" r:id="rId2"/>
    <p:sldId id="265" r:id="rId3"/>
    <p:sldId id="259" r:id="rId4"/>
    <p:sldId id="260" r:id="rId5"/>
    <p:sldId id="264" r:id="rId6"/>
    <p:sldId id="261" r:id="rId7"/>
    <p:sldId id="262" r:id="rId8"/>
    <p:sldId id="263" r:id="rId9"/>
    <p:sldId id="267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Светлый стиль 1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Светлый стиль 1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571" autoAdjust="0"/>
  </p:normalViewPr>
  <p:slideViewPr>
    <p:cSldViewPr snapToGrid="0">
      <p:cViewPr>
        <p:scale>
          <a:sx n="75" d="100"/>
          <a:sy n="75" d="100"/>
        </p:scale>
        <p:origin x="1950" y="57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5E98A4-0572-4532-A180-6655DC1106DD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3DDE97-A755-4DCF-AC44-22FE28DFC25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6533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Необходимо</a:t>
            </a:r>
            <a:r>
              <a:rPr lang="ru-RU" baseline="0" dirty="0" smtClean="0"/>
              <a:t> упростить процесс оформление 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заявок на подключение к услугам домашнего интернета и телевидения в условиях возрастающей конкуренции на рынке телекоммуникаций. Сложность текущих систем негативно влияют на качество обслуживания клиентов, что, в свою очередь, может приводить к потере потенциальных клиентов. Внедрение подсистемы позволит оптимизировать взаимодействие сотрудников отдела </a:t>
            </a:r>
            <a:r>
              <a:rPr lang="ru-RU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телемаркетинга</a:t>
            </a: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упростить контроль над статусами заявок, что создаст более прозрачную и быструю систему обработки клиентских заявок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DDE97-A755-4DCF-AC44-22FE28DFC25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0214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Основными пользователями ПО являются сотрудники отдела: супервайзер, операторы и неавторизованный сотрудник.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93DDE97-A755-4DCF-AC44-22FE28DFC25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70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B3B6D4-8099-4756-8908-5625003757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40E2CC7-777D-448D-B56E-B8CD1C1869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3BF387E-AB7B-4B4B-897D-81514C7BA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26.11.2025</a:t>
            </a:fld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0FBE17-044B-4AF6-A289-0A782F3B7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0144957-439D-47CC-A8ED-6A2C122E5876}"/>
              </a:ext>
            </a:extLst>
          </p:cNvPr>
          <p:cNvSpPr/>
          <p:nvPr userDrawn="1"/>
        </p:nvSpPr>
        <p:spPr>
          <a:xfrm>
            <a:off x="4854698" y="6346745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presentation-creation.ru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59A56F-C8EE-4028-B120-76C4E70D0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2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presentation-creation.ru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915E017-FBEA-43E5-BEF2-B852B6A94906}"/>
              </a:ext>
            </a:extLst>
          </p:cNvPr>
          <p:cNvSpPr/>
          <p:nvPr userDrawn="1"/>
        </p:nvSpPr>
        <p:spPr>
          <a:xfrm rot="5400000">
            <a:off x="11135364" y="890195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</a:rPr>
              <a:t>presentation-creation.ru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F0DB0974-8DAE-4930-B0E4-D6947F1CF9DB}"/>
              </a:ext>
            </a:extLst>
          </p:cNvPr>
          <p:cNvSpPr/>
          <p:nvPr userDrawn="1"/>
        </p:nvSpPr>
        <p:spPr>
          <a:xfrm>
            <a:off x="10706858" y="558324"/>
            <a:ext cx="5903277" cy="590327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844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CF4848C-182A-48DE-86CF-3C8368C3121A}"/>
              </a:ext>
            </a:extLst>
          </p:cNvPr>
          <p:cNvSpPr/>
          <p:nvPr userDrawn="1"/>
        </p:nvSpPr>
        <p:spPr>
          <a:xfrm>
            <a:off x="10675699" y="5341699"/>
            <a:ext cx="3032601" cy="303260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592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4ED40E4-D66C-4EAD-BA0C-819E90B5C1FE}"/>
              </a:ext>
            </a:extLst>
          </p:cNvPr>
          <p:cNvSpPr/>
          <p:nvPr userDrawn="1"/>
        </p:nvSpPr>
        <p:spPr>
          <a:xfrm>
            <a:off x="-1516301" y="5341699"/>
            <a:ext cx="3032601" cy="3032601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1922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54238" y="1825625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1B639A41-DCFC-4CBD-95A9-00918D1E0C5A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354237" y="2515712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2" name="Объект 2">
            <a:extLst>
              <a:ext uri="{FF2B5EF4-FFF2-40B4-BE49-F238E27FC236}">
                <a16:creationId xmlns:a16="http://schemas.microsoft.com/office/drawing/2014/main" id="{2E6A01D8-B25F-4969-9EEE-02D403937381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339448" y="3400900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3" name="Объект 2">
            <a:extLst>
              <a:ext uri="{FF2B5EF4-FFF2-40B4-BE49-F238E27FC236}">
                <a16:creationId xmlns:a16="http://schemas.microsoft.com/office/drawing/2014/main" id="{EB1E053F-9E78-4E0C-A2B0-31B557FA902C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339447" y="4090987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7B877FE1-D2EF-4E9F-AC08-DACA8D5147E5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1331088" y="4916011"/>
            <a:ext cx="7870785" cy="555150"/>
          </a:xfrm>
        </p:spPr>
        <p:txBody>
          <a:bodyPr/>
          <a:lstStyle>
            <a:lvl1pPr marL="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78790F4C-C0C7-494A-ACE0-B312EAD20E82}"/>
              </a:ext>
            </a:extLst>
          </p:cNvPr>
          <p:cNvSpPr>
            <a:spLocks noGrp="1"/>
          </p:cNvSpPr>
          <p:nvPr>
            <p:ph idx="17" hasCustomPrompt="1"/>
          </p:nvPr>
        </p:nvSpPr>
        <p:spPr>
          <a:xfrm>
            <a:off x="1331087" y="5606098"/>
            <a:ext cx="7870785" cy="55515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ru-RU" dirty="0"/>
              <a:t>Описание</a:t>
            </a: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FE8DB97C-8AB8-4590-BE44-515D12A9C284}"/>
              </a:ext>
            </a:extLst>
          </p:cNvPr>
          <p:cNvSpPr/>
          <p:nvPr userDrawn="1"/>
        </p:nvSpPr>
        <p:spPr>
          <a:xfrm>
            <a:off x="9982200" y="692767"/>
            <a:ext cx="5472466" cy="5472466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EAAC75B-6063-4FE0-9C28-0FF49AF84253}"/>
              </a:ext>
            </a:extLst>
          </p:cNvPr>
          <p:cNvSpPr/>
          <p:nvPr userDrawn="1"/>
        </p:nvSpPr>
        <p:spPr>
          <a:xfrm>
            <a:off x="838200" y="1967316"/>
            <a:ext cx="385652" cy="38565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4" name="Овал 23">
            <a:extLst>
              <a:ext uri="{FF2B5EF4-FFF2-40B4-BE49-F238E27FC236}">
                <a16:creationId xmlns:a16="http://schemas.microsoft.com/office/drawing/2014/main" id="{AA56E5AB-08C2-4F64-BE29-48394A6AF994}"/>
              </a:ext>
            </a:extLst>
          </p:cNvPr>
          <p:cNvSpPr/>
          <p:nvPr userDrawn="1"/>
        </p:nvSpPr>
        <p:spPr>
          <a:xfrm>
            <a:off x="838200" y="3485649"/>
            <a:ext cx="385652" cy="38565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929F01BF-6851-447C-BD5D-558D26D156EA}"/>
              </a:ext>
            </a:extLst>
          </p:cNvPr>
          <p:cNvSpPr/>
          <p:nvPr userDrawn="1"/>
        </p:nvSpPr>
        <p:spPr>
          <a:xfrm>
            <a:off x="838200" y="5000760"/>
            <a:ext cx="385652" cy="385652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0492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Заголовок и объект"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7FFB97-38B4-42A7-80AE-69C69F728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230E6E-34A3-4404-8606-8589BD1706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93BDCE-95F6-4EC6-A9C0-FF77CF83D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pPr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DAE2F2B-EDB8-4986-A685-68299F374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0DE953-C93F-4FA1-80E3-31B9BEC7A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6503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AFC2F1-B382-4B54-9A9F-910235201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08882E1-F531-4863-8725-4DFFB1D93C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2542041-3F17-4A54-9CFD-5CC89C888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3D8362-ABA0-448B-9472-8CE304126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412121C-8D9C-473B-9CAA-041E14CE3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50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FD5AC9-D947-4E91-8E54-564E619CC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BC3E08-A33C-41B0-9FF8-A48D661D3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A563770-7BF6-4230-8BC5-AB14818DC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F4B284D-4A4E-43FE-BC90-E29166BB4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1D419C2-0DDE-45ED-A6BB-A7CF0C6F9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8D6DE2-C0F1-4631-8D1B-61DD10E73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701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5F1CD0-71F9-4ED3-890F-20F3C6211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DFEAC71-3741-4F27-877E-AC8E2B1CC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20C1B9D-7DA5-4D32-81AA-D58CAF37C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445751E-43C2-4B2E-91C9-868F84D3E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06CFF53-F322-41AA-9E85-224959B71B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524C7FE-288B-4A4F-A747-871045CD4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53F8A51-9E24-4CD8-9A95-89D90C669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629EE09-F27C-4D57-8664-E5E7CB804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9297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EF0AC8-9D6A-48CD-9E4D-7A12D1C84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73AF8AA-A3DF-45CE-90B8-A257BB2E7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DF56705-7C94-4DCD-BF06-8BF6906E7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CF7DF18-617E-48F0-9074-B7506BDF8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967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499FCD3-56A4-4284-81DF-E3E50BDC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6047691-5406-41FC-B8DB-B022027BF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7AEBC5-6561-4B36-B570-386056950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7354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0F69B2-4FAE-42A4-BBC5-8BF096DE8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CD1947-0CD2-42BD-BFD1-5C4416618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0CDABD2-BF7A-4C8F-8B16-EA52A5F148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E72B473-E977-441B-A8EB-3301D765AF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7E1CEE-3915-4259-A6A7-D1B01B396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EB3D31-7ACD-4C98-9D8E-2BDDE7B0A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233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405F6B-C902-4B3E-9912-C6E442B65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7BC53AF-8425-4939-91AE-F683272D0D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A02FBB3-E12C-46E0-9C0A-AECE9178D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6AFC505-F1A6-46C8-AAC8-934BC95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0E9474-4172-432C-832B-FEC719D77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FF9343C-F37B-47D0-875B-2AF377328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9473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A3A611-4217-496F-A970-40D336B59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A99D7E-740A-449C-B04F-6390E5DB21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4607AD3-B579-44BB-B354-6F0449D5A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BF37B6-1BF7-43A4-81B9-1EFFAFF2C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F56BAB7-98C3-43DF-A563-53F5C2CD6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377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57C772B-141C-4727-B105-B525D7504E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3AF9FFA-49AD-4472-B85D-6ACC9C4B2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AE0885-5569-4FF3-8865-96B5AEB0C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21D7BD-2437-400A-B0D7-8AFEDE158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05A581-BC3B-448C-8E3E-BD317415A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40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8E9284-BDA4-45F8-A54F-94F6151AA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42D6D37-E80C-4087-8866-D624C739E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2A1800B-2E1A-4303-9892-AB08F80EA6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F6873F-BC63-4C77-8C1F-6337C0BA4F5E}" type="datetimeFigureOut">
              <a:rPr lang="ru-RU" smtClean="0"/>
              <a:t>26.11.2025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BC04A6-2998-40EB-BF13-94B54C7ADB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E2691-9DFE-40D1-8BB1-8DFF491DA3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32D385-1C5C-4B8C-A1C5-1E6FA26AB176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>
            <a:hlinkClick r:id="rId16"/>
            <a:extLst>
              <a:ext uri="{FF2B5EF4-FFF2-40B4-BE49-F238E27FC236}">
                <a16:creationId xmlns:a16="http://schemas.microsoft.com/office/drawing/2014/main" id="{1847D26E-390E-4229-B0D7-62066CD41BE0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42808" y="-639945"/>
            <a:ext cx="757762" cy="7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161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60" r:id="rId4"/>
    <p:sldLayoutId id="2147483661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/>
          <p:cNvSpPr/>
          <p:nvPr/>
        </p:nvSpPr>
        <p:spPr>
          <a:xfrm>
            <a:off x="1862050" y="-88861"/>
            <a:ext cx="8545483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b="0" i="0" u="none" strike="noStrike" baseline="0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2000" b="0" i="0" u="none" strike="noStrike" baseline="0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ФЕДЕРАЛЬНОЕ ГОСУДАРСТВЕННОЕ БЮДЖЕТНОЕ ОБРАЗОВАТЕЛЬНОЕ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УЧРЕЖДЕНИЕ ВЫСШЕГО ОБРАЗОВАНИЯ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«САНКТ-ПЕТЕРБУРГСКИЙ ГОСУДАРСТВЕННЫЙ УНИВЕРСИТЕТ ТЕЛЕКОММУНИКАЦИЙ ИМ. ПРОФ. М.А. БОНЧ-БРУЕВИЧА»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endParaRPr lang="en-US" sz="1600" b="1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АРХАНГЕЛЬСКИЙ КОЛЛЕДЖ ТЕЛЕКОММУНИКАЦИЙ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ИМ. Б.Л. РОЗИНГА (ФИЛИАЛ)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(АКТ (ф)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3086791" y="2931268"/>
            <a:ext cx="6096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sz="2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</a:t>
            </a:r>
            <a:r>
              <a:rPr lang="ru-RU" sz="2800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</a:p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подсистемы учета работы отдела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телемаркетинга</a:t>
            </a:r>
            <a:endParaRPr lang="ru-RU" sz="3600" dirty="0" smtClean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454429" y="510089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Студент группы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ИСПП-35: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Туйкова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Анна Евгеньевна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Руководитель: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Маломан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Юлия Сергеевна	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250439" y="6129882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Архангельск,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2025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81266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Актуальность</a:t>
            </a:r>
            <a:endParaRPr lang="ru-RU" dirty="0"/>
          </a:p>
        </p:txBody>
      </p:sp>
      <p:sp>
        <p:nvSpPr>
          <p:cNvPr id="1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1882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 smtClean="0"/>
              <a:t>Необходимо упростить процесс оформления заявок на подключение клиентов к услугам домашнего интернета и телевидения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856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Целевая аудитория</a:t>
            </a:r>
            <a:endParaRPr lang="ru-RU" dirty="0"/>
          </a:p>
        </p:txBody>
      </p:sp>
      <p:sp>
        <p:nvSpPr>
          <p:cNvPr id="9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Сотрудники </a:t>
            </a:r>
            <a:r>
              <a:rPr lang="ru-RU" dirty="0" smtClean="0"/>
              <a:t>телемаркетинговых отделов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Как подобрать оператора колл-центра | Скорозвон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8556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89881" y="1936704"/>
            <a:ext cx="4405631" cy="4307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Operator Изображения – скачать бесплатно на Freepik"/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1376" y="2945607"/>
            <a:ext cx="3231356" cy="3231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3336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Цель</a:t>
            </a:r>
            <a:endParaRPr lang="ru-RU" dirty="0"/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137400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Требуется разработать подсистему для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использования в отделе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сфере фиксированных продаж домашнего интернета и телевидения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600" y="1442244"/>
            <a:ext cx="4629785" cy="402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078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Задачи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788" y="1385888"/>
            <a:ext cx="3907212" cy="390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18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Средства разработки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44688"/>
            <a:ext cx="1403838" cy="1403838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3"/>
          <a:srcRect l="15511" t="17238" r="13178" b="19327"/>
          <a:stretch/>
        </p:blipFill>
        <p:spPr>
          <a:xfrm>
            <a:off x="5102395" y="2033197"/>
            <a:ext cx="1813561" cy="122682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6612" y="4350209"/>
            <a:ext cx="1857258" cy="1266031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6313" y="1944688"/>
            <a:ext cx="1476258" cy="1476258"/>
          </a:xfrm>
          <a:prstGeom prst="rect">
            <a:avLst/>
          </a:prstGeom>
        </p:spPr>
      </p:pic>
      <p:pic>
        <p:nvPicPr>
          <p:cNvPr id="1026" name="Picture 2" descr="Docker Logo, symbol, meaning, history, PNG, brand"/>
          <p:cNvPicPr>
            <a:picLocks noChangeAspect="1" noChangeArrowheads="1"/>
          </p:cNvPicPr>
          <p:nvPr/>
        </p:nvPicPr>
        <p:blipFill rotWithShape="1"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82" r="63093" b="19220"/>
          <a:stretch/>
        </p:blipFill>
        <p:spPr bwMode="auto">
          <a:xfrm>
            <a:off x="9776313" y="4287901"/>
            <a:ext cx="1606471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t Logo PNG Images, Git Logo Transparent Background PNG"/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0" b="99351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084" y="4317512"/>
            <a:ext cx="1340069" cy="133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4580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Архитектура системы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" t="1770" r="381"/>
          <a:stretch/>
        </p:blipFill>
        <p:spPr>
          <a:xfrm>
            <a:off x="1282700" y="2349499"/>
            <a:ext cx="9918700" cy="336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932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Преимущества</a:t>
            </a:r>
            <a:endParaRPr lang="ru-RU" dirty="0"/>
          </a:p>
        </p:txBody>
      </p:sp>
      <p:sp>
        <p:nvSpPr>
          <p:cNvPr id="11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376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smtClean="0"/>
              <a:t>Заключение</a:t>
            </a:r>
            <a:endParaRPr lang="ru-RU" dirty="0"/>
          </a:p>
        </p:txBody>
      </p:sp>
      <p:sp>
        <p:nvSpPr>
          <p:cNvPr id="8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11041379" y="6311900"/>
            <a:ext cx="854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9/9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104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Прямоугольник 16"/>
          <p:cNvSpPr/>
          <p:nvPr/>
        </p:nvSpPr>
        <p:spPr>
          <a:xfrm>
            <a:off x="1862050" y="-88861"/>
            <a:ext cx="8545483" cy="2800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000" b="0" i="0" u="none" strike="noStrike" baseline="0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2000" b="0" i="0" u="none" strike="noStrike" baseline="0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ФЕДЕРАЛЬНОЕ ГОСУДАРСТВЕННОЕ БЮДЖЕТНОЕ ОБРАЗОВАТЕЛЬНОЕ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УЧРЕЖДЕНИЕ ВЫСШЕГО ОБРАЗОВАНИЯ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«САНКТ-ПЕТЕРБУРГСКИЙ ГОСУДАРСТВЕННЫЙ УНИВЕРСИТЕТ ТЕЛЕКОММУНИКАЦИЙ ИМ. ПРОФ. М.А. БОНЧ-БРУЕВИЧА»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endParaRPr lang="en-US" sz="1600" b="1" dirty="0" smtClean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АРХАНГЕЛЬСКИЙ КОЛЛЕДЖ ТЕЛЕКОММУНИКАЦИЙ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ИМ. Б.Л. РОЗИНГА (ФИЛИАЛ)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  <a:endParaRPr lang="ru-RU" sz="16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(АКТ (ф) </a:t>
            </a:r>
            <a:r>
              <a:rPr lang="ru-RU" sz="1600" b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СПбГУТ</a:t>
            </a:r>
            <a:r>
              <a:rPr lang="ru-RU" sz="16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  <p:sp>
        <p:nvSpPr>
          <p:cNvPr id="18" name="Прямоугольник 17"/>
          <p:cNvSpPr/>
          <p:nvPr/>
        </p:nvSpPr>
        <p:spPr>
          <a:xfrm>
            <a:off x="3086791" y="2931268"/>
            <a:ext cx="6096000" cy="1384995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sz="2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Курсовой </a:t>
            </a:r>
            <a:r>
              <a:rPr lang="ru-RU" sz="2800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проект</a:t>
            </a:r>
          </a:p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подсистемы учета работы отдела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телемаркетинга</a:t>
            </a:r>
            <a:endParaRPr lang="ru-RU" sz="3600" dirty="0" smtClean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454429" y="510089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Студент группы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ИСПП-35: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Туйкова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Анна Евгеньевна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Руководитель: </a:t>
            </a:r>
            <a:r>
              <a:rPr lang="ru-RU" dirty="0" err="1" smtClean="0">
                <a:solidFill>
                  <a:srgbClr val="000000"/>
                </a:solidFill>
                <a:latin typeface="Times New Roman" panose="02020603050405020304" pitchFamily="18" charset="0"/>
              </a:rPr>
              <a:t>Маломан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 Юлия Сергеевна	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" name="Прямоугольник 19"/>
          <p:cNvSpPr/>
          <p:nvPr/>
        </p:nvSpPr>
        <p:spPr>
          <a:xfrm>
            <a:off x="5250439" y="6129882"/>
            <a:ext cx="20313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Архангельск,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2025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56952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Бумажная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269</Words>
  <Application>Microsoft Office PowerPoint</Application>
  <PresentationFormat>Широкоэкранный</PresentationFormat>
  <Paragraphs>51</Paragraphs>
  <Slides>10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Архитектура системы</vt:lpstr>
      <vt:lpstr>Преимущества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Минимализм бежевый, шаблон презентации с сайта presentation-creation.ru</dc:title>
  <dc:creator>User Obstinate</dc:creator>
  <cp:lastModifiedBy>0109-03</cp:lastModifiedBy>
  <cp:revision>14</cp:revision>
  <dcterms:created xsi:type="dcterms:W3CDTF">2024-11-04T08:17:15Z</dcterms:created>
  <dcterms:modified xsi:type="dcterms:W3CDTF">2025-11-26T12:49:47Z</dcterms:modified>
</cp:coreProperties>
</file>